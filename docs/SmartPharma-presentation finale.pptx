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Open Sans" panose="020B0606030504020204" pitchFamily="34" charset="0"/>
      <p:regular r:id="rId13"/>
    </p:embeddedFont>
    <p:embeddedFont>
      <p:font typeface="Open Sans Bold" panose="020B0604020202020204" charset="0"/>
      <p:regular r:id="rId14"/>
    </p:embeddedFont>
    <p:embeddedFont>
      <p:font typeface="Unbounded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4237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684907"/>
            <a:ext cx="4722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SmartPharma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258491"/>
            <a:ext cx="4722763" cy="2139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Système intelligent de gestion de pharmacie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3925119" y="3584079"/>
            <a:ext cx="4722763" cy="87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Projet intégrateur IFM30747-0010-P2026 · Collège La Cité · Printemps 2026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Professeure :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Stéphanie Ntumba Kahindo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Équipe de projet :</a:t>
            </a: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Abdellah Boukhediche · Abbes Boukik · Yacine Hammouche</a:t>
            </a:r>
            <a:endParaRPr lang="en-US" sz="9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17346-1DD0-8067-F7E9-CA868EF53BDE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1</a:t>
            </a:r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8093"/>
            <a:ext cx="472276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Présentation générale du projet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210717"/>
            <a:ext cx="4722763" cy="438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SmartPharma est une application Windows développée pour faciliter la gestion quotidienne d'une pharmacie. Face aux erreurs et pertes de temps liées à la gestion manuelle, notre solution centralise toutes les informations dans une base de données unique et automatise les principales opérations.</a:t>
            </a:r>
            <a:endParaRPr lang="en-US" sz="750" dirty="0"/>
          </a:p>
        </p:txBody>
      </p:sp>
      <p:sp>
        <p:nvSpPr>
          <p:cNvPr id="5" name="Shape 2"/>
          <p:cNvSpPr/>
          <p:nvPr/>
        </p:nvSpPr>
        <p:spPr>
          <a:xfrm>
            <a:off x="3925119" y="1741066"/>
            <a:ext cx="4722763" cy="563687"/>
          </a:xfrm>
          <a:prstGeom prst="roundRect">
            <a:avLst>
              <a:gd name="adj" fmla="val 751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30638" y="1846585"/>
            <a:ext cx="45117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Simplifier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030638" y="2053158"/>
            <a:ext cx="45117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Réduire la charge administrative et les tâches répétitives du personnel.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3925119" y="2386608"/>
            <a:ext cx="4722763" cy="563687"/>
          </a:xfrm>
          <a:prstGeom prst="roundRect">
            <a:avLst>
              <a:gd name="adj" fmla="val 751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30638" y="2492127"/>
            <a:ext cx="45117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Automatiser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30638" y="2698700"/>
            <a:ext cx="45117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Mettre à jour le stock automatiquement à chaque vente validée.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925119" y="3032150"/>
            <a:ext cx="4722763" cy="563687"/>
          </a:xfrm>
          <a:prstGeom prst="roundRect">
            <a:avLst>
              <a:gd name="adj" fmla="val 751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30638" y="3137669"/>
            <a:ext cx="45117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Suivre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030638" y="3344242"/>
            <a:ext cx="45117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Conserver un historique complet des ventes et des mouvements de stock.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925119" y="3677692"/>
            <a:ext cx="4722763" cy="563687"/>
          </a:xfrm>
          <a:prstGeom prst="roundRect">
            <a:avLst>
              <a:gd name="adj" fmla="val 751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30638" y="3783211"/>
            <a:ext cx="4511725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Analyser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030638" y="3989784"/>
            <a:ext cx="4511725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Fournir des statistiques exploitables pour la prise de décision.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925119" y="4333503"/>
            <a:ext cx="4722763" cy="351904"/>
          </a:xfrm>
          <a:prstGeom prst="roundRect">
            <a:avLst>
              <a:gd name="adj" fmla="val 12029"/>
            </a:avLst>
          </a:prstGeom>
          <a:solidFill>
            <a:srgbClr val="D6F5EE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875" y="4452342"/>
            <a:ext cx="125983" cy="100757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52615" y="4440510"/>
            <a:ext cx="4751710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Utilisateurs visés :</a:t>
            </a: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Pharmaciens, assistants en pharmacie et administrateurs du système.</a:t>
            </a:r>
            <a:endParaRPr lang="en-US" sz="75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19FF94-D989-12AD-5E89-00B2064F298B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6283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Démarche suivie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67680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projet a été développé selon une approche progressive organisée en </a:t>
            </a:r>
            <a:r>
              <a:rPr lang="en-US" sz="90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trois sprints</a:t>
            </a: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permettant une livraison incrémentale des fonctionnalités tout en maintenant une qualité constante.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2703686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2492797" y="2354833"/>
            <a:ext cx="14288" cy="348853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6" name="Shape 4"/>
          <p:cNvSpPr/>
          <p:nvPr/>
        </p:nvSpPr>
        <p:spPr>
          <a:xfrm>
            <a:off x="2369121" y="2572866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12727" y="2594670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2353" y="1450777"/>
            <a:ext cx="377524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353" y="1697831"/>
            <a:ext cx="3775249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Analyse des besoins, conception de la base de données et développement des modules Médicaments et Stock.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64782" y="2703686"/>
            <a:ext cx="14288" cy="348853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11" name="Shape 9"/>
          <p:cNvSpPr/>
          <p:nvPr/>
        </p:nvSpPr>
        <p:spPr>
          <a:xfrm>
            <a:off x="4441106" y="2572866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4712" y="2594670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84338" y="3168848"/>
            <a:ext cx="3775249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84338" y="3415903"/>
            <a:ext cx="3775249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Développement des modules Clients, Fournisseurs, Ventes et création du tableau de bord.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36841" y="2354833"/>
            <a:ext cx="14288" cy="348853"/>
          </a:xfrm>
          <a:prstGeom prst="roundRect">
            <a:avLst>
              <a:gd name="adj" fmla="val 49998"/>
            </a:avLst>
          </a:prstGeom>
          <a:solidFill>
            <a:srgbClr val="BCDB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513165" y="2572866"/>
            <a:ext cx="261640" cy="261640"/>
          </a:xfrm>
          <a:prstGeom prst="roundRect">
            <a:avLst>
              <a:gd name="adj" fmla="val 18668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772" y="2594670"/>
            <a:ext cx="174427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56324" y="1450777"/>
            <a:ext cx="3775323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Sprint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6324" y="1697831"/>
            <a:ext cx="3775323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9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Ajout de l'authentification, gestion des comptes utilisateurs, formulaire Contact, historique des ventes, rapports et documentation finale.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2403" y="3898999"/>
            <a:ext cx="4101480" cy="858217"/>
          </a:xfrm>
          <a:prstGeom prst="roundRect">
            <a:avLst>
              <a:gd name="adj" fmla="val 9756"/>
            </a:avLst>
          </a:prstGeom>
          <a:solidFill>
            <a:srgbClr val="26A688"/>
          </a:solidFill>
          <a:ln/>
        </p:spPr>
      </p:sp>
      <p:sp>
        <p:nvSpPr>
          <p:cNvPr id="21" name="Text 19"/>
          <p:cNvSpPr/>
          <p:nvPr/>
        </p:nvSpPr>
        <p:spPr>
          <a:xfrm>
            <a:off x="528638" y="4008016"/>
            <a:ext cx="3869010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GitHub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638" y="4298677"/>
            <a:ext cx="4326210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Partage du code source et gestion des versions tout au long du projet.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18596" y="4008016"/>
            <a:ext cx="3934048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Jira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596" y="4298677"/>
            <a:ext cx="393404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Planification des tâches, suivi de l'avancement et coordination de l'équipe.</a:t>
            </a:r>
            <a:endParaRPr lang="en-US" sz="9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6312635-92AD-4E96-F19E-0A10CDF94321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3</a:t>
            </a:r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5802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Architecture générale de la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718245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SmartPharma repose sur une </a:t>
            </a:r>
            <a:r>
              <a:rPr lang="en-US" sz="650" b="1" dirty="0">
                <a:solidFill>
                  <a:srgbClr val="333F7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architecture en plusieurs couches</a:t>
            </a: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qui sépare clairement les responsabilités, facilitant ainsi la maintenance, l'évolution du projet et la lisibilité du code.</a:t>
            </a:r>
            <a:endParaRPr lang="en-US" sz="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892671"/>
            <a:ext cx="8151763" cy="37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67310" y="1395181"/>
            <a:ext cx="1951764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Accès &amp; Données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67310" y="1684702"/>
            <a:ext cx="1987578" cy="3012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 Core + SQL Server pour persistance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2951" y="2696649"/>
            <a:ext cx="1803247" cy="225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Logique métier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8908" y="2986170"/>
            <a:ext cx="1827290" cy="150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C# pour règles et services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67310" y="3141825"/>
            <a:ext cx="1987578" cy="450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Interface utilisateur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67310" y="3656752"/>
            <a:ext cx="1987578" cy="301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11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WPF/XAML pour vues et interactions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686226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6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Chaque couche communique uniquement avec celle qui lui est adjacente, garantissant une séparation des préoccupations et une grande flexibilité pour les futures évolutions.</a:t>
            </a:r>
            <a:endParaRPr lang="en-US" sz="6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DD2015-D1EE-0F9F-0742-2C5D2CA2E65F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4</a:t>
            </a:r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2924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Technologies utilisées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81075"/>
            <a:ext cx="860896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développement de SmartPharma s'appuie sur un ensemble de technologies modernes, chacune choisie pour son adéquation aux besoins du projet.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275457"/>
            <a:ext cx="285824" cy="2858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692994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C# &amp; .NET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1934914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Langage principal pour toute la logique métier et les règles de gestion de l'application.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7856" y="1275457"/>
            <a:ext cx="285824" cy="2858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37856" y="1692994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WPF &amp; XAML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637856" y="1934914"/>
            <a:ext cx="4010025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Interface graphique moderne et intuitive pour l'expérience utilisateur.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497410"/>
            <a:ext cx="285824" cy="28582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914948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EF Core &amp; SQL Server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156868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Persistance des données avec un ORM performant et une base de données relationnelle robuste.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7856" y="2497410"/>
            <a:ext cx="285824" cy="28582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37856" y="2914948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Git &amp; GitHub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637856" y="3156868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versions, collaboration et historique des modifications du code.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719364"/>
            <a:ext cx="285824" cy="28582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4136901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Jira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96119" y="4378821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Organisation des tâches, suivi des sprints et coordination de l'équipe de développement.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7856" y="3719364"/>
            <a:ext cx="285824" cy="28582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37856" y="4136901"/>
            <a:ext cx="4010025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MailKit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637856" y="4378821"/>
            <a:ext cx="4010025" cy="3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Envoi de courriels depuis le formulaire Contact, directement depuis l'application.</a:t>
            </a:r>
            <a:endParaRPr lang="en-US" sz="9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7CB6A8-7CAB-25E8-3CF8-86164E41AF73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5</a:t>
            </a:r>
            <a:endParaRPr lang="fr-F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85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Base de données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7342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base de données relationnelle est le cœur du système SmartPharma. Elle structure l'ensemble des informations nécessaires au fonctionnement de la pharmacie de manière cohérente et normalisée.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733848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Tables principales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067223"/>
            <a:ext cx="1900312" cy="991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1530" y="2205484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Utilisateurs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91530" y="2523306"/>
            <a:ext cx="156663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comptes et des droits d'accès.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0404" y="2067223"/>
            <a:ext cx="1900312" cy="9912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15816" y="2205484"/>
            <a:ext cx="156663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Médicaments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15816" y="2523306"/>
            <a:ext cx="156663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Référentiel complet des produits disponibles.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82466"/>
            <a:ext cx="1900312" cy="138358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1530" y="3320728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Clients &amp; Fournisseurs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691530" y="3832399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Informations des partenaires de la pharmacie.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0404" y="3182466"/>
            <a:ext cx="1900312" cy="138358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715816" y="3320728"/>
            <a:ext cx="15666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Ventes &amp; LignesVente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2715816" y="3832399"/>
            <a:ext cx="156663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Historique des transactions et détails des articles vendus.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638749" y="1609874"/>
            <a:ext cx="4103191" cy="3095699"/>
          </a:xfrm>
          <a:prstGeom prst="roundRect">
            <a:avLst>
              <a:gd name="adj" fmla="val 2885"/>
            </a:avLst>
          </a:prstGeom>
          <a:solidFill>
            <a:srgbClr val="26A688"/>
          </a:solidFill>
          <a:ln/>
        </p:spPr>
      </p:sp>
      <p:sp>
        <p:nvSpPr>
          <p:cNvPr id="18" name="Text 12"/>
          <p:cNvSpPr/>
          <p:nvPr/>
        </p:nvSpPr>
        <p:spPr>
          <a:xfrm>
            <a:off x="4762723" y="1733848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Amélioration clé : LignesVente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762723" y="2051670"/>
            <a:ext cx="3855244" cy="1302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L'ajout de la table </a:t>
            </a: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LignesVente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constitue une amélioration majeure du projet. Elle permet d'enregistrer </a:t>
            </a:r>
            <a:r>
              <a:rPr lang="en-US" sz="9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plusieurs médicaments dans une seule vente</a:t>
            </a: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reproduisant fidèlement le fonctionnement d'une véritable pharmacie.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Cette structure garantit une meilleure organisation des données et facilite le suivi détaillé de chaque transaction.</a:t>
            </a:r>
            <a:endParaRPr lang="en-US" sz="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C7CECE7-1580-0F83-3FFE-88BDCB029DCC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6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0164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Fonctionnalités développées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889248"/>
            <a:ext cx="860896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SmartPharma couvre l'ensemble des besoins opérationnels d'une pharmacie grâce à des modules spécialisés et intégrés.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158850"/>
            <a:ext cx="4028405" cy="1199108"/>
          </a:xfrm>
          <a:prstGeom prst="roundRect">
            <a:avLst>
              <a:gd name="adj" fmla="val 3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9377" y="1272108"/>
            <a:ext cx="325562" cy="325562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897" y="1361629"/>
            <a:ext cx="146521" cy="1465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377" y="1692622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Authentification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09377" y="1919064"/>
            <a:ext cx="380188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sécurisée et gestion complète des comptes utilisateurs avec niveaux d'accès.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619476" y="1158850"/>
            <a:ext cx="4028405" cy="1199108"/>
          </a:xfrm>
          <a:prstGeom prst="roundRect">
            <a:avLst>
              <a:gd name="adj" fmla="val 3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32734" y="1272108"/>
            <a:ext cx="325562" cy="325562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22254" y="1361629"/>
            <a:ext cx="146521" cy="1465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2734" y="1692622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Médicaments &amp; Stock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732734" y="1919064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CRUD complet, détection des stocks faibles et des médicaments expirés.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96119" y="2452911"/>
            <a:ext cx="4028405" cy="1199108"/>
          </a:xfrm>
          <a:prstGeom prst="roundRect">
            <a:avLst>
              <a:gd name="adj" fmla="val 3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9377" y="2566169"/>
            <a:ext cx="325562" cy="325562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897" y="2655689"/>
            <a:ext cx="146521" cy="1465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9377" y="2986683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Ventes &amp; Panier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09377" y="3213125"/>
            <a:ext cx="380188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Ajout de plusieurs médicaments par transaction, calcul automatique et mise à jour du stock.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619476" y="2452911"/>
            <a:ext cx="4028405" cy="1199108"/>
          </a:xfrm>
          <a:prstGeom prst="roundRect">
            <a:avLst>
              <a:gd name="adj" fmla="val 380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32734" y="2566169"/>
            <a:ext cx="325562" cy="325562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2254" y="2655689"/>
            <a:ext cx="146521" cy="1465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32734" y="2986683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Clients &amp; Fournisseurs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732734" y="3213125"/>
            <a:ext cx="3801889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complète des informations et de l'historique des relations commerciales.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96119" y="3746971"/>
            <a:ext cx="4028405" cy="1036290"/>
          </a:xfrm>
          <a:prstGeom prst="roundRect">
            <a:avLst>
              <a:gd name="adj" fmla="val 439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9377" y="3860229"/>
            <a:ext cx="325562" cy="325562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897" y="3949750"/>
            <a:ext cx="146521" cy="1465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9377" y="4280743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Rapports &amp; Statistiques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609377" y="4507185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Indicateurs clés pour le suivi de l'activité et la prise de décision.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4619476" y="3746971"/>
            <a:ext cx="4028405" cy="1036290"/>
          </a:xfrm>
          <a:prstGeom prst="roundRect">
            <a:avLst>
              <a:gd name="adj" fmla="val 4399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32734" y="3860229"/>
            <a:ext cx="325562" cy="325562"/>
          </a:xfrm>
          <a:prstGeom prst="ellipse">
            <a:avLst/>
          </a:prstGeom>
          <a:solidFill>
            <a:srgbClr val="26A68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22254" y="3949750"/>
            <a:ext cx="146521" cy="1465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732734" y="4280743"/>
            <a:ext cx="380188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Formulaire Contact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732734" y="4507185"/>
            <a:ext cx="380188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Envoi de courriels directement depuis l'application via MailKit.</a:t>
            </a:r>
            <a:endParaRPr lang="en-US" sz="85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725093B-D961-A26A-D80B-6227AF57AEBF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7</a:t>
            </a:r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7853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Démonstration de la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1410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démonstration illustre le flux complet d'utilisation de SmartPharma, depuis la connexion jusqu'à la consultation des rapports.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8520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048545"/>
            <a:ext cx="263455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139107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Connexion sécurisée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407369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L'utilisateur s'authentifie avec ses identifiants pour accéder à l'application.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54648" y="18520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54648" y="2048545"/>
            <a:ext cx="263463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8"/>
          <p:cNvSpPr/>
          <p:nvPr/>
        </p:nvSpPr>
        <p:spPr>
          <a:xfrm>
            <a:off x="3254648" y="2139107"/>
            <a:ext cx="26346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Tableau de bord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54648" y="2407369"/>
            <a:ext cx="263463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Affichage des statistiques : médicaments, ventes du jour, stocks faibles et produits expirés.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13252" y="1852092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13252" y="2048545"/>
            <a:ext cx="263455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12"/>
          <p:cNvSpPr/>
          <p:nvPr/>
        </p:nvSpPr>
        <p:spPr>
          <a:xfrm>
            <a:off x="6013252" y="2139107"/>
            <a:ext cx="263455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Création d'une vente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3252" y="2407369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Sélection de plusieurs médicaments, ajout au panier et calcul automatique du total.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6119" y="321974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6119" y="3416201"/>
            <a:ext cx="4013820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506763"/>
            <a:ext cx="401382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Validation &amp; Mise à jour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119" y="3775025"/>
            <a:ext cx="401382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Après validation, le stock est mis à jour automatiquement et la transaction est enregistrée.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33913" y="3219748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3913" y="3416201"/>
            <a:ext cx="4013895" cy="14288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2" name="Text 20"/>
          <p:cNvSpPr/>
          <p:nvPr/>
        </p:nvSpPr>
        <p:spPr>
          <a:xfrm>
            <a:off x="4633913" y="3506763"/>
            <a:ext cx="40138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Historique &amp; Rapports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33913" y="3775025"/>
            <a:ext cx="401389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Consultation des détails de la transaction, des modules Clients, Fournisseurs et des rapports.</a:t>
            </a:r>
            <a:endParaRPr lang="en-US" sz="9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FA55C6-6795-FEE1-749C-77EFA1EF3FCF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8</a:t>
            </a: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1993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Tests, validation et corrections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5550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série rigoureuse de tests a été menée tout au long du développement pour garantir la stabilité et la fiabilité de l'application.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617464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Tests fonctionnels réalisés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1956941"/>
            <a:ext cx="186035" cy="1860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9145" y="1950839"/>
            <a:ext cx="14817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Connexion et gestion des comptes utilisateurs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2391" y="1956941"/>
            <a:ext cx="186035" cy="186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938909" y="1950839"/>
            <a:ext cx="14818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Opérations CRUD sur tous les modules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2627" y="2601888"/>
            <a:ext cx="186035" cy="186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9145" y="2595786"/>
            <a:ext cx="148173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 des ventes et mise à jour du stock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2391" y="2601888"/>
            <a:ext cx="186035" cy="18603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938909" y="2595786"/>
            <a:ext cx="148180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Recherches, rapports et formulaire Contact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4638749" y="1493490"/>
            <a:ext cx="4103191" cy="2494508"/>
          </a:xfrm>
          <a:prstGeom prst="roundRect">
            <a:avLst>
              <a:gd name="adj" fmla="val 3580"/>
            </a:avLst>
          </a:prstGeom>
          <a:solidFill>
            <a:srgbClr val="192248"/>
          </a:solidFill>
          <a:ln/>
        </p:spPr>
      </p:sp>
      <p:sp>
        <p:nvSpPr>
          <p:cNvPr id="14" name="Text 8"/>
          <p:cNvSpPr/>
          <p:nvPr/>
        </p:nvSpPr>
        <p:spPr>
          <a:xfrm>
            <a:off x="4762723" y="1617464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Validations &amp; Corrections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762723" y="1935287"/>
            <a:ext cx="431244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validations ont été ajoutées pour empêcher :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762723" y="2245370"/>
            <a:ext cx="3855244" cy="923999"/>
          </a:xfrm>
          <a:prstGeom prst="rect">
            <a:avLst/>
          </a:prstGeom>
          <a:noFill/>
          <a:ln/>
        </p:spPr>
        <p:txBody>
          <a:bodyPr wrap="square" lIns="0" tIns="49619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champs obligatoires vides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quantités négatives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prix invalides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ventes supérieures au stock disponible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762723" y="3280990"/>
            <a:ext cx="3855244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Plusieurs bogues ont été corrigés : gestion des ventes multi-médicaments, affichage de l'historique, synchronisation SQL Server et problèmes d'interface graphique.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96119" y="4127525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B6FCB8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092" y="4307309"/>
            <a:ext cx="155004" cy="12397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9071" y="4282455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L'application est aujourd'hui stable et toutes les fonctionnalités principales fonctionnent correctement.</a:t>
            </a:r>
            <a:endParaRPr lang="en-US" sz="9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D480A4-9284-C4EC-EFA9-83AE8B400A61}"/>
              </a:ext>
            </a:extLst>
          </p:cNvPr>
          <p:cNvSpPr/>
          <p:nvPr/>
        </p:nvSpPr>
        <p:spPr>
          <a:xfrm>
            <a:off x="8040414" y="4803228"/>
            <a:ext cx="1103586" cy="34027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dirty="0"/>
              <a:t>9</a:t>
            </a:r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79288"/>
            <a:ext cx="4722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941040"/>
            <a:ext cx="4722763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projet SmartPharma a permis de concevoir et de développer une application complète de gestion de pharmacie, répondant aux besoins réels du domaine. Il a constitué une expérience enrichissante en développement logiciel, en gestion de projet et en travail d'équipe.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96119" y="1851645"/>
            <a:ext cx="2301255" cy="1288703"/>
          </a:xfrm>
          <a:prstGeom prst="roundRect">
            <a:avLst>
              <a:gd name="adj" fmla="val 398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2920" y="1978447"/>
            <a:ext cx="2047652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Compétences développées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22920" y="2432000"/>
            <a:ext cx="204765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Maîtrise de C#, WPF, Entity Framework Core et SQL Server dans un contexte réel.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17552" y="1851645"/>
            <a:ext cx="2301329" cy="1288703"/>
          </a:xfrm>
          <a:prstGeom prst="roundRect">
            <a:avLst>
              <a:gd name="adj" fmla="val 3980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44354" y="1978447"/>
            <a:ext cx="204772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Gestion de projet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44354" y="2241277"/>
            <a:ext cx="2047726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Utilisation de GitHub et Jira pour la collaboration, le versioning et le suivi des tâches.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3260527"/>
            <a:ext cx="4722763" cy="904131"/>
          </a:xfrm>
          <a:prstGeom prst="roundRect">
            <a:avLst>
              <a:gd name="adj" fmla="val 5672"/>
            </a:avLst>
          </a:prstGeom>
          <a:solidFill>
            <a:srgbClr val="D6F5EE"/>
          </a:solidFill>
          <a:ln w="4763">
            <a:solidFill>
              <a:srgbClr val="BCDB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2920" y="3387328"/>
            <a:ext cx="4469160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Travail d'équipe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22920" y="3650159"/>
            <a:ext cx="4469160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Coordination efficace entre les membres pour livrer un produit fonctionnel et de qualité.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79252" y="4435078"/>
            <a:ext cx="499683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Merci pour votre attention.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6119" y="4299868"/>
            <a:ext cx="14288" cy="464269"/>
          </a:xfrm>
          <a:prstGeom prst="roundRect">
            <a:avLst>
              <a:gd name="adj" fmla="val 49998"/>
            </a:avLst>
          </a:prstGeom>
          <a:solidFill>
            <a:srgbClr val="26A6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1057</Words>
  <Application>Microsoft Office PowerPoint</Application>
  <PresentationFormat>Affichage à l'écran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6" baseType="lpstr">
      <vt:lpstr>Unbounded Light</vt:lpstr>
      <vt:lpstr>Unbounded Bold</vt:lpstr>
      <vt:lpstr>Open Sans Bold</vt:lpstr>
      <vt:lpstr>Open Sans</vt:lpstr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lastModifiedBy>Lenovo</cp:lastModifiedBy>
  <cp:revision>2</cp:revision>
  <dcterms:created xsi:type="dcterms:W3CDTF">2026-08-13T14:10:36Z</dcterms:created>
  <dcterms:modified xsi:type="dcterms:W3CDTF">2026-08-13T14:20:46Z</dcterms:modified>
</cp:coreProperties>
</file>